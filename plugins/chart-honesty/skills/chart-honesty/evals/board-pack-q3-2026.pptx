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Monthly active users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Jun 2026</c:v>
                </c:pt>
                <c:pt idx="1">
                  <c:v>Jul 2026</c:v>
                </c:pt>
                <c:pt idx="2">
                  <c:v>Aug 2026</c:v>
                </c:pt>
                <c:pt idx="3">
                  <c:v>Sep 2026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412</c:v>
                </c:pt>
                <c:pt idx="1">
                  <c:v>418</c:v>
                </c:pt>
                <c:pt idx="2">
                  <c:v>425</c:v>
                </c:pt>
                <c:pt idx="3">
                  <c:v>431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40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Users (thousands)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On-time dispatch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Apr 2026</c:v>
                </c:pt>
                <c:pt idx="1">
                  <c:v>May 2026</c:v>
                </c:pt>
                <c:pt idx="2">
                  <c:v>Jun 2026</c:v>
                </c:pt>
                <c:pt idx="3">
                  <c:v>Jul 2026</c:v>
                </c:pt>
                <c:pt idx="4">
                  <c:v>Aug 2026</c:v>
                </c:pt>
                <c:pt idx="5">
                  <c:v>Sep 2026</c:v>
                </c:pt>
              </c:strCache>
            </c:strRef>
          </c:cat>
          <c:val>
            <c:numRef>
              <c:f>Sheet1!$B$2:$B$7</c:f>
              <c:numCache>
                <c:formatCode>0.0%</c:formatCode>
                <c:ptCount val="6"/>
                <c:pt idx="0">
                  <c:v>0.912</c:v>
                </c:pt>
                <c:pt idx="1">
                  <c:v>0.927</c:v>
                </c:pt>
                <c:pt idx="2">
                  <c:v>0.918</c:v>
                </c:pt>
                <c:pt idx="3">
                  <c:v>0.934</c:v>
                </c:pt>
                <c:pt idx="4">
                  <c:v>0.941</c:v>
                </c:pt>
                <c:pt idx="5">
                  <c:v>0.938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.0"/>
          <c:min val="0.85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Jobs dispatched on time (%)</a:t>
                </a:r>
              </a:p>
            </c:rich>
          </c:tx>
          <c:layout/>
          <c:overlay val="0"/>
        </c:title>
        <c:numFmt formatCode="0%" sourceLinked="0"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(£m)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Q4 2025</c:v>
                </c:pt>
                <c:pt idx="1">
                  <c:v>Q1 2026</c:v>
                </c:pt>
                <c:pt idx="2">
                  <c:v>Q2 2026</c:v>
                </c:pt>
                <c:pt idx="3">
                  <c:v>Q3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14.2</c:v>
                </c:pt>
                <c:pt idx="1">
                  <c:v>16.0</c:v>
                </c:pt>
                <c:pt idx="2">
                  <c:v>17.9</c:v>
                </c:pt>
                <c:pt idx="3">
                  <c:v>20.6</c:v>
                </c:pt>
              </c:numCache>
            </c:numRef>
          </c:val>
        </c:ser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Gross margin (%)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Q4 2025</c:v>
                </c:pt>
                <c:pt idx="1">
                  <c:v>Q1 2026</c:v>
                </c:pt>
                <c:pt idx="2">
                  <c:v>Q2 2026</c:v>
                </c:pt>
                <c:pt idx="3">
                  <c:v>Q3 2026</c:v>
                </c:pt>
              </c:strCache>
            </c:strRef>
          </c:cat>
          <c:val>
            <c:numRef>
              <c:f>Sheet1!$C$2:$C$5</c:f>
              <c:numCache>
                <c:formatCode>0.0%</c:formatCode>
                <c:ptCount val="4"/>
                <c:pt idx="0">
                  <c:v>0.342</c:v>
                </c:pt>
                <c:pt idx="1">
                  <c:v>0.336</c:v>
                </c:pt>
                <c:pt idx="2">
                  <c:v>0.331</c:v>
                </c:pt>
                <c:pt idx="3">
                  <c:v>0.327</c:v>
                </c:pt>
              </c:numCache>
            </c:numRef>
          </c:val>
          <c:smooth val="0"/>
        </c:ser>
        <c:marker val="1"/>
        <c:axId val="50001"/>
        <c:axId val="50002"/>
      </c:line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Revenue (£m)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  <c:catAx>
        <c:axId val="50001"/>
        <c:scaling>
          <c:orientation val="minMax"/>
        </c:scaling>
        <c:delete val="1"/>
        <c:axPos val="b"/>
        <c:majorTickMark val="none"/>
        <c:minorTickMark val="none"/>
        <c:tickLblPos val="nextTo"/>
        <c:crossAx val="50002"/>
        <c:crosses val="autoZero"/>
        <c:auto val="1"/>
        <c:lblAlgn val="ctr"/>
        <c:lblOffset val="100"/>
        <c:noMultiLvlLbl val="0"/>
      </c:catAx>
      <c:valAx>
        <c:axId val="50002"/>
        <c:scaling>
          <c:orientation val="minMax"/>
        </c:scaling>
        <c:delete val="0"/>
        <c:axPos val="r"/>
        <c:title>
          <c:tx>
            <c:rich>
              <a:bodyPr/>
              <a:p>
                <a:r>
                  <a:t>Gross margin (%)</a:t>
                </a:r>
              </a:p>
            </c:rich>
          </c:tx>
          <c:overlay val="0"/>
        </c:title>
        <c:numFmt formatCode="0%" sourceLinked="0"/>
        <c:majorTickMark val="out"/>
        <c:minorTickMark val="none"/>
        <c:tickLblPos val="nextTo"/>
        <c:crossAx val="50001"/>
        <c:crosses val="max"/>
        <c:crossBetween val="between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view3D>
      <c:rotX val="15"/>
      <c:rotY val="2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bar3D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Open cases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340</c:v>
                </c:pt>
                <c:pt idx="1">
                  <c:v>285</c:v>
                </c:pt>
                <c:pt idx="2">
                  <c:v>410</c:v>
                </c:pt>
                <c:pt idx="3">
                  <c:v>198</c:v>
                </c:pt>
              </c:numCache>
            </c:numRef>
          </c:val>
        </c:ser>
        <c:gapDepth val="150"/>
        <c:shape val="box"/>
        <c:axId val="-2068027336"/>
        <c:axId val="-2113994440"/>
      </c:bar3D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Open cases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 using channel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Phone</c:v>
                </c:pt>
                <c:pt idx="1">
                  <c:v>Web</c:v>
                </c:pt>
                <c:pt idx="2">
                  <c:v>App</c:v>
                </c:pt>
                <c:pt idx="3">
                  <c:v>Email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0.64</c:v>
                </c:pt>
                <c:pt idx="1">
                  <c:v>0.48</c:v>
                </c:pt>
                <c:pt idx="2">
                  <c:v>0.37</c:v>
                </c:pt>
                <c:pt idx="3">
                  <c:v>0.22</c:v>
                </c:pt>
              </c:numCache>
            </c:numRef>
          </c:val>
        </c:ser>
        <c:dLbls>
          <c:numFmt formatCode="0%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churn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Jul 2026</c:v>
                </c:pt>
                <c:pt idx="1">
                  <c:v>Aug 2026</c:v>
                </c:pt>
                <c:pt idx="2">
                  <c:v>Sep 2026</c:v>
                </c:pt>
              </c:strCache>
            </c:strRef>
          </c:cat>
          <c:val>
            <c:numRef>
              <c:f>Sheet1!$B$2:$B$4</c:f>
              <c:numCache>
                <c:formatCode>0.0%</c:formatCode>
                <c:ptCount val="3"/>
                <c:pt idx="0">
                  <c:v>0.021</c:v>
                </c:pt>
                <c:pt idx="1">
                  <c:v>0.023</c:v>
                </c:pt>
                <c:pt idx="2">
                  <c:v>0.026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Monthly churn (%)</a:t>
                </a:r>
              </a:p>
            </c:rich>
          </c:tx>
          <c:layout/>
          <c:overlay val="0"/>
        </c:title>
        <c:numFmt formatCode="0.0%" sourceLinked="0"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Spend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Scotland</c:v>
                </c:pt>
                <c:pt idx="1">
                  <c:v>Wales</c:v>
                </c:pt>
                <c:pt idx="2">
                  <c:v>Midlands</c:v>
                </c:pt>
                <c:pt idx="3">
                  <c:v>South East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3.2</c:v>
                </c:pt>
                <c:pt idx="1">
                  <c:v>4.1</c:v>
                </c:pt>
                <c:pt idx="2">
                  <c:v>2.7</c:v>
                </c:pt>
                <c:pt idx="3">
                  <c:v>1.9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Installations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Boilers</c:v>
                </c:pt>
                <c:pt idx="1">
                  <c:v>Heat pumps</c:v>
                </c:pt>
                <c:pt idx="2">
                  <c:v>Solar panels</c:v>
                </c:pt>
                <c:pt idx="3">
                  <c:v>Batteries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1840</c:v>
                </c:pt>
                <c:pt idx="1">
                  <c:v>960</c:v>
                </c:pt>
                <c:pt idx="2">
                  <c:v>610</c:v>
                </c:pt>
                <c:pt idx="3">
                  <c:v>275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Installations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job value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Jun 2026</c:v>
                </c:pt>
                <c:pt idx="1">
                  <c:v>Jul 2026</c:v>
                </c:pt>
                <c:pt idx="2">
                  <c:v>Aug 2026</c:v>
                </c:pt>
                <c:pt idx="3">
                  <c:v>Sep 2026</c:v>
                </c:pt>
              </c:strCache>
            </c:strRef>
          </c:cat>
          <c:val>
            <c:numRef>
              <c:f>Sheet1!$B$2:$B$5</c:f>
              <c:numCache>
                <c:formatCode>£#,##0</c:formatCode>
                <c:ptCount val="4"/>
                <c:pt idx="0">
                  <c:v>182</c:v>
                </c:pt>
                <c:pt idx="1">
                  <c:v>188</c:v>
                </c:pt>
                <c:pt idx="2">
                  <c:v>191</c:v>
                </c:pt>
                <c:pt idx="3">
                  <c:v>196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Average job value (£)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Tickets handled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Phone</c:v>
                </c:pt>
                <c:pt idx="1">
                  <c:v>Chat</c:v>
                </c:pt>
                <c:pt idx="2">
                  <c:v>Email</c:v>
                </c:pt>
                <c:pt idx="3">
                  <c:v>Web form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7450</c:v>
                </c:pt>
                <c:pt idx="1">
                  <c:v>8120</c:v>
                </c:pt>
                <c:pt idx="2">
                  <c:v>2960</c:v>
                </c:pt>
                <c:pt idx="3">
                  <c:v>1380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Tickets handled, Sep 2026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figures £m, from the finance ledger.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7.xml"/><Relationship Id="rId3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Larkfield Home Services — Q3 2026 Operating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Board pack · Tue 13 Oct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Customers</a:t>
            </a:r>
          </a:p>
          <a:p>
            <a:r>
              <a:t>Finance</a:t>
            </a:r>
          </a:p>
          <a:p>
            <a:r>
              <a:t>Operations</a:t>
            </a:r>
          </a:p>
          <a:p>
            <a:r>
              <a:t>Service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Active Users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463040"/>
          <a:ext cx="73152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0" y="182880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Customers who logged in to the app at least once in the month.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On-time dispatch stayed above 90% every month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463040"/>
          <a:ext cx="73152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and Gross Margin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463040"/>
          <a:ext cx="73152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Cases by Region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463040"/>
          <a:ext cx="73152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Channels Customers Use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463040"/>
          <a:ext cx="64008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80960" y="1828800"/>
            <a:ext cx="4023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Customer survey, September 2026 (n = 1,240).</a:t>
            </a:r>
          </a:p>
          <a:p>
            <a:pPr>
              <a:defRPr sz="1400"/>
            </a:pPr>
            <a:r>
              <a:t>Q: Which of these channels have you used in the last three months? Select all that apply.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Churn fell through Q3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463040"/>
          <a:ext cx="73152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Marketing Spend by Region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463040"/>
          <a:ext cx="73152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Installations by Product Line, Q3 2026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463040"/>
          <a:ext cx="73152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Availability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7315200" cy="4551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182880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Chart exported from the monitoring dashboard.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Average Job Value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463040"/>
          <a:ext cx="73152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Chat handled the most tickets in September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463040"/>
          <a:ext cx="73152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Questions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